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Total Sales by Calendar Month (2014–2017 combined)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94924.84</c:v>
                </c:pt>
                <c:pt idx="1">
                  <c:v>59751.25</c:v>
                </c:pt>
                <c:pt idx="2">
                  <c:v>205005.49</c:v>
                </c:pt>
                <c:pt idx="3">
                  <c:v>137762.13</c:v>
                </c:pt>
                <c:pt idx="4">
                  <c:v>155028.81</c:v>
                </c:pt>
                <c:pt idx="5">
                  <c:v>152718.68</c:v>
                </c:pt>
                <c:pt idx="6">
                  <c:v>147238.1</c:v>
                </c:pt>
                <c:pt idx="7">
                  <c:v>159044.06</c:v>
                </c:pt>
                <c:pt idx="8">
                  <c:v>307649.95</c:v>
                </c:pt>
                <c:pt idx="9">
                  <c:v>200322.98</c:v>
                </c:pt>
                <c:pt idx="10">
                  <c:v>352461.07</c:v>
                </c:pt>
                <c:pt idx="11">
                  <c:v>325293.5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Sales Share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2FBFA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836154.03</c:v>
                </c:pt>
                <c:pt idx="1">
                  <c:v>741999.8</c:v>
                </c:pt>
                <c:pt idx="2">
                  <c:v>719047.03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Total Sales by Region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725457.82</c:v>
                </c:pt>
                <c:pt idx="1">
                  <c:v>678781.24</c:v>
                </c:pt>
                <c:pt idx="2">
                  <c:v>501239.89</c:v>
                </c:pt>
                <c:pt idx="3">
                  <c:v>391721.9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Total Units Sold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12266</c:v>
                </c:pt>
                <c:pt idx="1">
                  <c:v>10618</c:v>
                </c:pt>
                <c:pt idx="2">
                  <c:v>8780</c:v>
                </c:pt>
                <c:pt idx="3">
                  <c:v>6209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MAE</c:v>
                  </c:pt>
                  <c:pt idx="1">
                    <c:v>RMSE</c:v>
                  </c:pt>
                  <c:pt idx="2">
                    <c:v>R2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2.6081175881880236</c:v>
                </c:pt>
                <c:pt idx="1">
                  <c:v>3.5043253063276643</c:v>
                </c:pt>
                <c:pt idx="2">
                  <c:v>0.7617024158854762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FBF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MAE</c:v>
                  </c:pt>
                  <c:pt idx="1">
                    <c:v>RMSE</c:v>
                  </c:pt>
                  <c:pt idx="2">
                    <c:v>R2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2.4670555159170404</c:v>
                </c:pt>
                <c:pt idx="1">
                  <c:v>3.444920204078845</c:v>
                </c:pt>
                <c:pt idx="2">
                  <c:v>0.769713148068883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233"/>
                </a:solidFill>
                <a:latin typeface="Arial"/>
              </a:rPr>
              <a:t>Random Forest Feature Importance (Top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Orders</c:v>
                  </c:pt>
                  <c:pt idx="1">
                    <c:v>Profit</c:v>
                  </c:pt>
                  <c:pt idx="2">
                    <c:v>ProfitMargin</c:v>
                  </c:pt>
                  <c:pt idx="3">
                    <c:v>AvgSalesPerOrder</c:v>
                  </c:pt>
                  <c:pt idx="4">
                    <c:v>Sales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0.8066</c:v>
                </c:pt>
                <c:pt idx="1">
                  <c:v>0.0403</c:v>
                </c:pt>
                <c:pt idx="2">
                  <c:v>0.0242</c:v>
                </c:pt>
                <c:pt idx="3">
                  <c:v>0.0239</c:v>
                </c:pt>
                <c:pt idx="4">
                  <c:v>0.0234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FAE"/>
                </a:solidFill>
              </a:rPr>
              <a:t>DATA SCIENCE INTERNSHIP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Analysis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Demand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6E0"/>
                </a:solidFill>
              </a:rPr>
              <a:t>Turning four years of retail transactions into an actionable inventory-planning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577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6EC"/>
                </a:solidFill>
              </a:rPr>
              <a:t>Nivash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6EC"/>
                </a:solidFill>
              </a:rPr>
              <a:t>B.Tech CSE (AI &amp; ML), VIT Chennai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6EC"/>
                </a:solidFill>
              </a:rPr>
              <a:t>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Analyze historical e-commerce sales data and build ML models to predict future product demand for inventory optimization.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Clean &amp;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Handle missing values, duplicates, outliers; engineer time-based features.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Explore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566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13 visualizations covering trends, products, regions, and seasonality.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Predict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566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Linear Regression vs Random Forest for monthly unit-demand forecasting.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201168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Recommend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56616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Translate findings into inventory, pricing, and regional strategy actions.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Sample Superstore — a public US retail transactional dataset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9,994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</a:rPr>
              <a:t>Order line items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2014–2017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</a:rPr>
              <a:t>Years of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5,009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</a:rPr>
              <a:t>Unique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20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Key fields used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A"/>
                </a:solidFill>
              </a:rPr>
              <a:t>Order Date, Ship Date  —  time-based analysis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A"/>
                </a:solidFill>
              </a:rPr>
              <a:t>Category, Sub-Category, Product Name  —  product taxonomy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A"/>
                </a:solidFill>
              </a:rPr>
              <a:t>Sales, Quantity, Discount, Profit  —  core metrics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A"/>
                </a:solidFill>
              </a:rPr>
              <a:t>Region, Segment  —  geographic &amp; customer breakdown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</a:rPr>
              <a:t>Why this dataset?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9776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</a:rPr>
              <a:t>It natively contains every field required by the brief, is free of missing values and duplicates, and spans four full years — enabling genuine trend and seasonality analysis instead of a single snapshot.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325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Missing Values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3258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Median (numeric) / mode (categorical) imputation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Duplicates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Exact-duplicate rows removed via drop_duplicates()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Date Parsing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3246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Order Date &amp; Ship Date converted to proper datetime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206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Outlier Treatment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4206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IQR method applied to Sales; high-value orders retained, not deleted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166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51663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Year, Month, Day, Quarter, DayOfWeek derived from Order 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Show Strong, Repeating Seasonality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69494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14300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4F8FA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Key Insight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92440" y="1874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Sales peak sharply every September and again in November–December, driven by holiday-season demand.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Implication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39776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Inventory build-up should begin in Q3 to meet this recurring, highly predictable Q4 surge.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Product Performance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51206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0350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</a:rPr>
              <a:t>Top 5 Products by Revenue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Canon imageCLASS 2200 Advanced Copier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$61,600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Fellowes PB500 Electric Punch Plastic Co…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$27,453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Cisco TelePresence System EX90 Videoconf…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$22,638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HON 5400 Series Task Chairs for Big and 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$21,871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</a:rPr>
                        <a:t>GBC DocuBind TL300 Electric Binding System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$19,823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394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188720"/>
          <a:ext cx="5394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Transactions to a Demand Forecast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AE"/>
                </a:solidFill>
              </a:rPr>
              <a:t>Modeling approach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E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Aggregate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Category × Region 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BFA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E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Engineer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(cyclical month, order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economics)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BFA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E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Train &amp; compare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Linear Regression vs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32520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BFAE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E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5440" y="26517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Evaluate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MAE · RMSE · R²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AE"/>
                </a:solidFill>
              </a:rPr>
              <a:t>Why aggregate first?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0"/>
                </a:solidFill>
              </a:rPr>
              <a:t>Planners need to know how many units of a product line will be needed in a region next month — not the quantity on one invoice line.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AE"/>
                </a:solidFill>
              </a:rPr>
              <a:t>Why two models?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48006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0"/>
                </a:solidFill>
              </a:rPr>
              <a:t>Linear Regression gives an interpretable baseline; Random Forest tests whether demand depends on non-linear interactions between features.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</a:rPr>
              <a:t>Random Forest outperforms Linear Regression on every metric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83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</a:rPr>
              <a:t>R² = 0.770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26680" y="2560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Random Forest explains ~77% of variance in monthly unit demand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393192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MAE = 2.47 units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26680" y="4800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On average, forecasts are off by fewer than 2.5 units per Category/Region/month — precise enough to drive reorder decisions.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Demand?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6751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188720"/>
            <a:ext cx="4114800" cy="5029200"/>
          </a:xfrm>
          <a:prstGeom prst="roundRect">
            <a:avLst>
              <a:gd name="adj" fmla="val 1778"/>
            </a:avLst>
          </a:prstGeom>
          <a:solidFill>
            <a:srgbClr val="F4F8FA"/>
          </a:solidFill>
          <a:ln/>
        </p:spPr>
      </p:sp>
      <p:sp>
        <p:nvSpPr>
          <p:cNvPr id="5" name="Text 2"/>
          <p:cNvSpPr/>
          <p:nvPr/>
        </p:nvSpPr>
        <p:spPr>
          <a:xfrm>
            <a:off x="781812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Order frequency wins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18120" y="20574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The number of distinct orders in a Category/Region/month is by far the strongest predictor of unit demand — more so than revenue or profit.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1812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Business implication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4297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</a:rPr>
              <a:t>Reorder triggers should be based on order-count velocity, not just revenue thresholds.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</a:rPr>
              <a:t>Inventory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Build Q3 safety stock for Technology &amp; Office Supplies ahead of the reliable Q4 demand surge.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508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</a:rPr>
              <a:t>Discounting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Cap discounts near 30% — profit turns negative beyond this threshold across nearly all categories.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</a:rPr>
              <a:t>Regional Focus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Sustain investment in the West (top region); run a targeted growth campaign for the South.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862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</a:rPr>
              <a:t>Product Mix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Bundle low-revenue consumables with high-revenue Technology items to lift average order value.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EC"/>
                </a:solidFill>
              </a:rPr>
              <a:t>A complete pipeline from raw transactions to a validated, business-ready demand forecast — with Random Forest as the recommended model for inventory planning.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FAE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</a:rPr>
              <a:t>Incorporate holidays, promotions &amp; competitor pricing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</a:rPr>
              <a:t>Move to weekly-level demand granularity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</a:rPr>
              <a:t>Benchmark against XGBoost / LightGBM and Prophet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EC"/>
                </a:solidFill>
              </a:rPr>
              <a:t>Deploy as a lightweight forecasting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274320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31089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39319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6E0"/>
                </a:solidFill>
              </a:rPr>
              <a:t>Nivash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7D6E0"/>
                </a:solidFill>
              </a:rPr>
              <a:t>B.Tech CSE (AI &amp; ML),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 &amp; Demand Prediction</dc:title>
  <dc:subject>PptxGenJS Presentation</dc:subject>
  <dc:creator>Nivash</dc:creator>
  <cp:lastModifiedBy>Nivash</cp:lastModifiedBy>
  <cp:revision>1</cp:revision>
  <dcterms:created xsi:type="dcterms:W3CDTF">2026-07-07T09:58:12Z</dcterms:created>
  <dcterms:modified xsi:type="dcterms:W3CDTF">2026-07-07T09:58:12Z</dcterms:modified>
</cp:coreProperties>
</file>